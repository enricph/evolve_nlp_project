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5" r:id="rId4"/>
    <p:sldId id="270" r:id="rId5"/>
    <p:sldId id="266" r:id="rId6"/>
    <p:sldId id="267" r:id="rId7"/>
    <p:sldId id="268" r:id="rId8"/>
    <p:sldId id="269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344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952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728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532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134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46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898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hnschrift" panose="020B0502040204020203" pitchFamily="34" charset="0"/>
              </a:rPr>
              <a:t>Modelo de Análisis de Reseñas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Descripción del Problema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9C328F-2755-408A-B2E8-97DD45FA9BB2}"/>
              </a:ext>
            </a:extLst>
          </p:cNvPr>
          <p:cNvSpPr/>
          <p:nvPr/>
        </p:nvSpPr>
        <p:spPr>
          <a:xfrm>
            <a:off x="311700" y="1176617"/>
            <a:ext cx="3292113" cy="1062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b="1" dirty="0">
                <a:latin typeface="Bahnschrift" panose="020B0502040204020203" pitchFamily="34" charset="0"/>
              </a:rPr>
              <a:t>Sector: </a:t>
            </a:r>
            <a:r>
              <a:rPr lang="es-ES" i="1" dirty="0">
                <a:latin typeface="Bahnschrift" panose="020B0502040204020203" pitchFamily="34" charset="0"/>
              </a:rPr>
              <a:t>Electrónica y </a:t>
            </a:r>
            <a:r>
              <a:rPr lang="es-ES" i="1" dirty="0" err="1">
                <a:latin typeface="Bahnschrift" panose="020B0502040204020203" pitchFamily="34" charset="0"/>
              </a:rPr>
              <a:t>Tecnologia</a:t>
            </a:r>
            <a:endParaRPr lang="es-ES" i="1" dirty="0">
              <a:latin typeface="Bahnschrift" panose="020B0502040204020203" pitchFamily="34" charset="0"/>
            </a:endParaRPr>
          </a:p>
          <a:p>
            <a:r>
              <a:rPr lang="es-ES" dirty="0">
                <a:latin typeface="Bahnschrift" panose="020B0502040204020203" pitchFamily="34" charset="0"/>
              </a:rPr>
              <a:t>- 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69 Empresas y 5596 Reseñas</a:t>
            </a:r>
          </a:p>
          <a:p>
            <a:r>
              <a:rPr lang="es-ES" b="1" dirty="0">
                <a:latin typeface="Bahnschrift" panose="020B0502040204020203" pitchFamily="34" charset="0"/>
              </a:rPr>
              <a:t>Empresa: </a:t>
            </a:r>
            <a:r>
              <a:rPr lang="es-ES" i="1" dirty="0" err="1">
                <a:latin typeface="Bahnschrift" panose="020B0502040204020203" pitchFamily="34" charset="0"/>
              </a:rPr>
              <a:t>ElectricalWorld</a:t>
            </a:r>
            <a:endParaRPr lang="es-ES" i="1" dirty="0">
              <a:latin typeface="Bahnschrift" panose="020B0502040204020203" pitchFamily="34" charset="0"/>
            </a:endParaRPr>
          </a:p>
          <a:p>
            <a:r>
              <a:rPr lang="es-ES" dirty="0">
                <a:latin typeface="Bahnschrift" panose="020B0502040204020203" pitchFamily="34" charset="0"/>
              </a:rPr>
              <a:t>- 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100 Reseñas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C4ECE5-A629-4917-ADAF-8963E8321511}"/>
              </a:ext>
            </a:extLst>
          </p:cNvPr>
          <p:cNvSpPr/>
          <p:nvPr/>
        </p:nvSpPr>
        <p:spPr>
          <a:xfrm>
            <a:off x="311700" y="2454090"/>
            <a:ext cx="4114800" cy="4504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Descripción </a:t>
            </a:r>
            <a:r>
              <a:rPr lang="es-ES" dirty="0" err="1">
                <a:latin typeface="Bahnschrift" panose="020B0502040204020203" pitchFamily="34" charset="0"/>
              </a:rPr>
              <a:t>ElectricalWorld</a:t>
            </a:r>
            <a:endParaRPr lang="es-ES" dirty="0">
              <a:latin typeface="Bahnschrift" panose="020B0502040204020203" pitchFamily="34" charset="0"/>
            </a:endParaRPr>
          </a:p>
        </p:txBody>
      </p:sp>
      <p:sp>
        <p:nvSpPr>
          <p:cNvPr id="18" name="Título 4">
            <a:extLst>
              <a:ext uri="{FF2B5EF4-FFF2-40B4-BE49-F238E27FC236}">
                <a16:creationId xmlns:a16="http://schemas.microsoft.com/office/drawing/2014/main" id="{62A088E5-A917-4648-AEB1-186605720032}"/>
              </a:ext>
            </a:extLst>
          </p:cNvPr>
          <p:cNvSpPr txBox="1">
            <a:spLocks/>
          </p:cNvSpPr>
          <p:nvPr/>
        </p:nvSpPr>
        <p:spPr>
          <a:xfrm>
            <a:off x="5015275" y="1135075"/>
            <a:ext cx="3437559" cy="5727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Objetivos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B76A388-10A7-49CC-BB94-814819A8EF49}"/>
              </a:ext>
            </a:extLst>
          </p:cNvPr>
          <p:cNvSpPr/>
          <p:nvPr/>
        </p:nvSpPr>
        <p:spPr>
          <a:xfrm>
            <a:off x="5015275" y="2162936"/>
            <a:ext cx="3706103" cy="1904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es-ES" b="1" dirty="0">
                <a:latin typeface="Bahnschrift" panose="020B0502040204020203" pitchFamily="34" charset="0"/>
              </a:rPr>
              <a:t>¿Qué opinión tienen los clientes de los servicios/productos?</a:t>
            </a:r>
          </a:p>
          <a:p>
            <a:pPr algn="ctr"/>
            <a:endParaRPr lang="es-ES" b="1" dirty="0">
              <a:latin typeface="Bahnschrift" panose="020B0502040204020203" pitchFamily="34" charset="0"/>
            </a:endParaRPr>
          </a:p>
          <a:p>
            <a:pPr marL="285750" indent="-285750" algn="ctr">
              <a:buFontTx/>
              <a:buChar char="-"/>
            </a:pPr>
            <a:r>
              <a:rPr lang="es-ES" b="1" dirty="0">
                <a:latin typeface="Bahnschrift" panose="020B0502040204020203" pitchFamily="34" charset="0"/>
              </a:rPr>
              <a:t>¿Cuál es el posicionamiento en el mercado?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0DB789-18B3-45F6-97CA-99212727738B}"/>
              </a:ext>
            </a:extLst>
          </p:cNvPr>
          <p:cNvSpPr txBox="1"/>
          <p:nvPr/>
        </p:nvSpPr>
        <p:spPr>
          <a:xfrm>
            <a:off x="4944246" y="1763742"/>
            <a:ext cx="202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Bahnschrift" panose="020B0502040204020203" pitchFamily="34" charset="0"/>
              </a:rPr>
              <a:t>Identificar:</a:t>
            </a:r>
          </a:p>
          <a:p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1CD5DB-C9F0-4C65-AE08-222F40E6278C}"/>
              </a:ext>
            </a:extLst>
          </p:cNvPr>
          <p:cNvSpPr txBox="1"/>
          <p:nvPr/>
        </p:nvSpPr>
        <p:spPr>
          <a:xfrm>
            <a:off x="256463" y="3072922"/>
            <a:ext cx="44431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Electrical World was founded by Managing Director John at the age of 20, when he launched his first electrical contract company. </a:t>
            </a:r>
            <a:r>
              <a:rPr lang="en-US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We now offer worldwide delivery and have a vast range of DIY and B2B products available at extremely competitive prices!</a:t>
            </a:r>
            <a:endParaRPr lang="es-E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Top Compañías del Mercado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63806A-AEC9-4310-9EE9-5F51D673F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74" y="1483018"/>
            <a:ext cx="8505126" cy="297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8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Características de las Reseñas del Mercado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F80079-112A-4A6E-A796-D647493F9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44" y="1491806"/>
            <a:ext cx="8611856" cy="301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7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Posicionamiento de </a:t>
            </a:r>
            <a:r>
              <a:rPr lang="es-E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ElectricalWorld</a:t>
            </a:r>
            <a:endParaRPr lang="es-ES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B1CFA39E-7DFC-429E-BAA6-6429A0C5A74A}"/>
              </a:ext>
            </a:extLst>
          </p:cNvPr>
          <p:cNvGrpSpPr/>
          <p:nvPr/>
        </p:nvGrpSpPr>
        <p:grpSpPr>
          <a:xfrm>
            <a:off x="208838" y="1108101"/>
            <a:ext cx="3640986" cy="1916511"/>
            <a:chOff x="499462" y="1235692"/>
            <a:chExt cx="3640986" cy="1916511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4227340B-325A-46F7-ADE8-C21B2EE9D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1998" r="34914"/>
            <a:stretch/>
          </p:blipFill>
          <p:spPr>
            <a:xfrm>
              <a:off x="499462" y="1473437"/>
              <a:ext cx="3505868" cy="1678766"/>
            </a:xfrm>
            <a:prstGeom prst="rect">
              <a:avLst/>
            </a:prstGeom>
          </p:spPr>
        </p:pic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D14BF200-998C-4D75-8DD8-BF05AE213B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9230" t="11998"/>
            <a:stretch/>
          </p:blipFill>
          <p:spPr>
            <a:xfrm>
              <a:off x="867049" y="1473437"/>
              <a:ext cx="3273399" cy="1678766"/>
            </a:xfrm>
            <a:prstGeom prst="rect">
              <a:avLst/>
            </a:prstGeom>
          </p:spPr>
        </p:pic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F5A038E9-420F-4E2B-8E0A-6A1F27E776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133" t="47" r="16703" b="87490"/>
            <a:stretch/>
          </p:blipFill>
          <p:spPr>
            <a:xfrm>
              <a:off x="724382" y="1235692"/>
              <a:ext cx="3348507" cy="237745"/>
            </a:xfrm>
            <a:prstGeom prst="rect">
              <a:avLst/>
            </a:prstGeom>
          </p:spPr>
        </p:pic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05B046AA-7D5D-4DD8-95D3-C0310F55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172" y="2902566"/>
            <a:ext cx="6135867" cy="205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9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Temas de las Reseñas de </a:t>
            </a:r>
            <a:r>
              <a:rPr lang="es-ES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ElectricalWorld</a:t>
            </a:r>
            <a:endParaRPr lang="es-ES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3F534B-1E14-4413-884B-1415610F8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81" y="1142387"/>
            <a:ext cx="5595456" cy="199837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A1CC4C-8898-4754-BA02-100BADA54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440" y="3281340"/>
            <a:ext cx="3056710" cy="131491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6F1549-7510-462D-8497-D33683A19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849" y="3018566"/>
            <a:ext cx="4271047" cy="18404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9341161-EE6A-473C-94C5-38D245E8C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81" y="1110311"/>
            <a:ext cx="5861050" cy="20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8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Sentimiento por temas vs otras compañías</a:t>
            </a:r>
            <a:b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s-ES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535DA9-F4D3-4513-8052-62821EDE2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89" y="1707549"/>
            <a:ext cx="5089711" cy="2080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C656AAC-F036-49BF-9B9A-0070D69D2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13335"/>
            <a:ext cx="7924800" cy="323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F8A6A0B-8E0A-4567-B1E1-CC28F2F1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0"/>
            <a:ext cx="8520600" cy="5727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Bahnschrift" panose="020B0502040204020203" pitchFamily="34" charset="0"/>
              </a:rPr>
              <a:t>Acciones de Negocio y Siguientes Pasos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A55EA8C-9E11-4949-A62A-FF59448A5049}"/>
              </a:ext>
            </a:extLst>
          </p:cNvPr>
          <p:cNvSpPr/>
          <p:nvPr/>
        </p:nvSpPr>
        <p:spPr>
          <a:xfrm>
            <a:off x="311700" y="1087752"/>
            <a:ext cx="4085488" cy="398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Acciones de Negocio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8DFB412-BC90-437B-9079-6E8F0D4DD933}"/>
              </a:ext>
            </a:extLst>
          </p:cNvPr>
          <p:cNvSpPr/>
          <p:nvPr/>
        </p:nvSpPr>
        <p:spPr>
          <a:xfrm>
            <a:off x="311700" y="3399327"/>
            <a:ext cx="4085488" cy="398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ahnschrift" panose="020B0502040204020203" pitchFamily="34" charset="0"/>
              </a:rPr>
              <a:t>Siguientes Pasos</a:t>
            </a:r>
          </a:p>
        </p:txBody>
      </p:sp>
      <p:sp>
        <p:nvSpPr>
          <p:cNvPr id="25" name="Google Shape;97;p17">
            <a:extLst>
              <a:ext uri="{FF2B5EF4-FFF2-40B4-BE49-F238E27FC236}">
                <a16:creationId xmlns:a16="http://schemas.microsoft.com/office/drawing/2014/main" id="{72CCEF42-D79F-40BB-87F9-EF14B1261441}"/>
              </a:ext>
            </a:extLst>
          </p:cNvPr>
          <p:cNvSpPr txBox="1">
            <a:spLocks/>
          </p:cNvSpPr>
          <p:nvPr/>
        </p:nvSpPr>
        <p:spPr>
          <a:xfrm>
            <a:off x="311700" y="3904770"/>
            <a:ext cx="6725721" cy="8751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buFont typeface="Arial"/>
              <a:buAutoNum type="arabicPeriod"/>
            </a:pPr>
            <a:r>
              <a:rPr lang="es-ES" sz="1200" dirty="0">
                <a:latin typeface="Bahnschrift" panose="020B0502040204020203" pitchFamily="34" charset="0"/>
              </a:rPr>
              <a:t>Investigar agrupaciones de temas más concretos</a:t>
            </a:r>
          </a:p>
          <a:p>
            <a:pPr marL="228600" indent="-228600">
              <a:buFont typeface="Arial"/>
              <a:buAutoNum type="arabicPeriod"/>
            </a:pPr>
            <a:endParaRPr lang="es-ES" sz="1200" dirty="0">
              <a:latin typeface="Bahnschrift" panose="020B0502040204020203" pitchFamily="34" charset="0"/>
            </a:endParaRPr>
          </a:p>
          <a:p>
            <a:pPr marL="228600" indent="-228600">
              <a:buFont typeface="Arial"/>
              <a:buAutoNum type="arabicPeriod"/>
            </a:pPr>
            <a:r>
              <a:rPr lang="es-ES" sz="1200" dirty="0">
                <a:latin typeface="Bahnschrift" panose="020B0502040204020203" pitchFamily="34" charset="0"/>
              </a:rPr>
              <a:t>Identificar causas concretas de las reseñas negativas</a:t>
            </a:r>
          </a:p>
          <a:p>
            <a:pPr marL="0" indent="0">
              <a:buNone/>
            </a:pPr>
            <a:endParaRPr lang="es-ES" sz="1200" dirty="0">
              <a:latin typeface="Bahnschrif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2CC19C-1805-4B35-B5D9-322CE88F6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88" y="1562639"/>
            <a:ext cx="8420986" cy="149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179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2085</TotalTime>
  <Words>145</Words>
  <Application>Microsoft Office PowerPoint</Application>
  <PresentationFormat>Presentación en pantalla (16:9)</PresentationFormat>
  <Paragraphs>24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Bahnschrift</vt:lpstr>
      <vt:lpstr>Consolas</vt:lpstr>
      <vt:lpstr>Simple Light</vt:lpstr>
      <vt:lpstr>Modelo de Análisis de Reseñas</vt:lpstr>
      <vt:lpstr>Descripción del Problema</vt:lpstr>
      <vt:lpstr>Top Compañías del Mercado</vt:lpstr>
      <vt:lpstr>Características de las Reseñas del Mercado</vt:lpstr>
      <vt:lpstr>Posicionamiento de ElectricalWorld</vt:lpstr>
      <vt:lpstr>Temas de las Reseñas de ElectricalWorld</vt:lpstr>
      <vt:lpstr>Sentimiento por temas vs otras compañías </vt:lpstr>
      <vt:lpstr>Acciones de Negocio y Siguientes Pasos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Fidelización y Recompra</dc:title>
  <cp:lastModifiedBy>Henry Fernandes</cp:lastModifiedBy>
  <cp:revision>40</cp:revision>
  <dcterms:modified xsi:type="dcterms:W3CDTF">2026-04-16T15:26:38Z</dcterms:modified>
</cp:coreProperties>
</file>