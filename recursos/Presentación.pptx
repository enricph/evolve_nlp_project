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65" r:id="rId4"/>
    <p:sldId id="266" r:id="rId5"/>
    <p:sldId id="267" r:id="rId6"/>
    <p:sldId id="268" r:id="rId7"/>
    <p:sldId id="269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69525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65322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6134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046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98984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994799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Bahnschrift" panose="020B0502040204020203" pitchFamily="34" charset="0"/>
              </a:rPr>
              <a:t>Modelo de Análisis de Reviews</a:t>
            </a:r>
            <a:endParaRPr dirty="0">
              <a:latin typeface="Bahnschrift" panose="020B05020402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Descripción del Problema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A9C328F-2755-408A-B2E8-97DD45FA9BB2}"/>
              </a:ext>
            </a:extLst>
          </p:cNvPr>
          <p:cNvSpPr/>
          <p:nvPr/>
        </p:nvSpPr>
        <p:spPr>
          <a:xfrm>
            <a:off x="311700" y="1176617"/>
            <a:ext cx="3292113" cy="1062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dirty="0">
                <a:latin typeface="Bahnschrift" panose="020B0502040204020203" pitchFamily="34" charset="0"/>
              </a:rPr>
              <a:t>Empresa de </a:t>
            </a:r>
            <a:r>
              <a:rPr lang="es-ES" dirty="0" err="1">
                <a:latin typeface="Bahnschrift" panose="020B0502040204020203" pitchFamily="34" charset="0"/>
              </a:rPr>
              <a:t>Retail</a:t>
            </a:r>
            <a:endParaRPr lang="es-ES" dirty="0">
              <a:latin typeface="Bahnschrift" panose="020B0502040204020203" pitchFamily="34" charset="0"/>
            </a:endParaRPr>
          </a:p>
          <a:p>
            <a:pPr marL="285750" indent="-285750">
              <a:buFontTx/>
              <a:buChar char="-"/>
            </a:pPr>
            <a:r>
              <a:rPr lang="es-ES" dirty="0">
                <a:latin typeface="Bahnschrift" panose="020B0502040204020203" pitchFamily="34" charset="0"/>
              </a:rPr>
              <a:t>Reino Unido</a:t>
            </a:r>
          </a:p>
          <a:p>
            <a:pPr marL="285750" indent="-285750">
              <a:buFontTx/>
              <a:buChar char="-"/>
            </a:pPr>
            <a:r>
              <a:rPr lang="es-ES" dirty="0">
                <a:latin typeface="Bahnschrift" panose="020B0502040204020203" pitchFamily="34" charset="0"/>
              </a:rPr>
              <a:t>5490 clientes</a:t>
            </a:r>
          </a:p>
          <a:p>
            <a:pPr marL="285750" indent="-285750">
              <a:buFontTx/>
              <a:buChar char="-"/>
            </a:pPr>
            <a:r>
              <a:rPr lang="es-ES" dirty="0">
                <a:latin typeface="Bahnschrift" panose="020B0502040204020203" pitchFamily="34" charset="0"/>
              </a:rPr>
              <a:t>1067371 pedidos (2010 – 2011) 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5C4ECE5-A629-4917-ADAF-8963E8321511}"/>
              </a:ext>
            </a:extLst>
          </p:cNvPr>
          <p:cNvSpPr/>
          <p:nvPr/>
        </p:nvSpPr>
        <p:spPr>
          <a:xfrm>
            <a:off x="4071098" y="1176617"/>
            <a:ext cx="4114800" cy="4504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>
                <a:latin typeface="Bahnschrift" panose="020B0502040204020203" pitchFamily="34" charset="0"/>
              </a:rPr>
              <a:t>Mapa de Densidad de Clientes</a:t>
            </a:r>
          </a:p>
        </p:txBody>
      </p:sp>
      <p:sp>
        <p:nvSpPr>
          <p:cNvPr id="18" name="Título 4">
            <a:extLst>
              <a:ext uri="{FF2B5EF4-FFF2-40B4-BE49-F238E27FC236}">
                <a16:creationId xmlns:a16="http://schemas.microsoft.com/office/drawing/2014/main" id="{62A088E5-A917-4648-AEB1-186605720032}"/>
              </a:ext>
            </a:extLst>
          </p:cNvPr>
          <p:cNvSpPr txBox="1">
            <a:spLocks/>
          </p:cNvSpPr>
          <p:nvPr/>
        </p:nvSpPr>
        <p:spPr>
          <a:xfrm>
            <a:off x="311700" y="2524685"/>
            <a:ext cx="2828188" cy="57270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Objetivo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B76A388-10A7-49CC-BB94-814819A8EF49}"/>
              </a:ext>
            </a:extLst>
          </p:cNvPr>
          <p:cNvSpPr/>
          <p:nvPr/>
        </p:nvSpPr>
        <p:spPr>
          <a:xfrm>
            <a:off x="311701" y="3477266"/>
            <a:ext cx="3292112" cy="12841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Bahnschrift" panose="020B0502040204020203" pitchFamily="34" charset="0"/>
              </a:rPr>
              <a:t>¿Qué clientes tienen mayor probabilidad de recompra?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8BCD507-D609-4568-9304-E520812FCA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607"/>
          <a:stretch/>
        </p:blipFill>
        <p:spPr>
          <a:xfrm>
            <a:off x="3330615" y="1788355"/>
            <a:ext cx="5595765" cy="2819766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EF0DB789-18B3-45F6-97CA-99212727738B}"/>
              </a:ext>
            </a:extLst>
          </p:cNvPr>
          <p:cNvSpPr txBox="1"/>
          <p:nvPr/>
        </p:nvSpPr>
        <p:spPr>
          <a:xfrm>
            <a:off x="217620" y="3121526"/>
            <a:ext cx="16674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Bahnschrift" panose="020B0502040204020203" pitchFamily="34" charset="0"/>
              </a:rPr>
              <a:t>Identificar:</a:t>
            </a:r>
          </a:p>
          <a:p>
            <a:endParaRPr lang="es-E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Mercado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3CB9C80-5DF5-46E8-A4BC-C493C434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772670"/>
            <a:ext cx="2247372" cy="231407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386E414A-93C1-48C6-B396-57805368D89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/>
          <a:stretch/>
        </p:blipFill>
        <p:spPr>
          <a:xfrm>
            <a:off x="2844053" y="1832893"/>
            <a:ext cx="5988247" cy="2193627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DEFEDF08-BF5C-42A6-8594-875E6AEE762D}"/>
              </a:ext>
            </a:extLst>
          </p:cNvPr>
          <p:cNvSpPr/>
          <p:nvPr/>
        </p:nvSpPr>
        <p:spPr>
          <a:xfrm>
            <a:off x="433505" y="1465729"/>
            <a:ext cx="2003762" cy="4512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>
                <a:latin typeface="Bahnschrift" panose="020B0502040204020203" pitchFamily="34" charset="0"/>
              </a:rPr>
              <a:t>Contribución de Ventas por País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F876637-B65F-453A-927A-D03373E1D89B}"/>
              </a:ext>
            </a:extLst>
          </p:cNvPr>
          <p:cNvSpPr/>
          <p:nvPr/>
        </p:nvSpPr>
        <p:spPr>
          <a:xfrm>
            <a:off x="4095586" y="1446433"/>
            <a:ext cx="2903607" cy="5127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>
                <a:latin typeface="Bahnschrift" panose="020B0502040204020203" pitchFamily="34" charset="0"/>
              </a:rPr>
              <a:t>Ventas sobre el Tiempo por País</a:t>
            </a:r>
          </a:p>
        </p:txBody>
      </p:sp>
    </p:spTree>
    <p:extLst>
      <p:ext uri="{BB962C8B-B14F-4D97-AF65-F5344CB8AC3E}">
        <p14:creationId xmlns:p14="http://schemas.microsoft.com/office/powerpoint/2010/main" val="4212981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Nuestra Empresa vs Mercado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F8CF133-8859-40EA-B640-6D12F155171B}"/>
              </a:ext>
            </a:extLst>
          </p:cNvPr>
          <p:cNvSpPr/>
          <p:nvPr/>
        </p:nvSpPr>
        <p:spPr>
          <a:xfrm>
            <a:off x="678927" y="2112511"/>
            <a:ext cx="1467335" cy="382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 err="1"/>
              <a:t>Recency</a:t>
            </a:r>
            <a:r>
              <a:rPr lang="es-ES" dirty="0"/>
              <a:t> (</a:t>
            </a:r>
            <a:r>
              <a:rPr lang="es-ES" dirty="0" err="1"/>
              <a:t>days</a:t>
            </a:r>
            <a:r>
              <a:rPr lang="es-ES" dirty="0"/>
              <a:t>)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B696F93-069D-4004-91B0-EF6296BBEB9A}"/>
              </a:ext>
            </a:extLst>
          </p:cNvPr>
          <p:cNvSpPr/>
          <p:nvPr/>
        </p:nvSpPr>
        <p:spPr>
          <a:xfrm>
            <a:off x="2865531" y="2105687"/>
            <a:ext cx="1312074" cy="382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 err="1"/>
              <a:t>Frequency</a:t>
            </a:r>
            <a:endParaRPr lang="es-ES" dirty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D841EAB-AA06-4DBF-9D2F-680A8D202AC8}"/>
              </a:ext>
            </a:extLst>
          </p:cNvPr>
          <p:cNvSpPr/>
          <p:nvPr/>
        </p:nvSpPr>
        <p:spPr>
          <a:xfrm>
            <a:off x="7167282" y="2119234"/>
            <a:ext cx="1556496" cy="382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 err="1"/>
              <a:t>Customer</a:t>
            </a:r>
            <a:r>
              <a:rPr lang="es-ES" dirty="0"/>
              <a:t> </a:t>
            </a:r>
            <a:r>
              <a:rPr lang="es-ES" dirty="0" err="1"/>
              <a:t>Lifetime</a:t>
            </a:r>
            <a:r>
              <a:rPr lang="es-ES" dirty="0"/>
              <a:t> (</a:t>
            </a:r>
            <a:r>
              <a:rPr lang="es-ES" dirty="0" err="1"/>
              <a:t>days</a:t>
            </a:r>
            <a:r>
              <a:rPr lang="es-ES" dirty="0"/>
              <a:t>)</a:t>
            </a:r>
          </a:p>
        </p:txBody>
      </p:sp>
      <p:grpSp>
        <p:nvGrpSpPr>
          <p:cNvPr id="42" name="Grupo 41">
            <a:extLst>
              <a:ext uri="{FF2B5EF4-FFF2-40B4-BE49-F238E27FC236}">
                <a16:creationId xmlns:a16="http://schemas.microsoft.com/office/drawing/2014/main" id="{CC6370CA-DA92-4334-9128-FEFC738EC0D7}"/>
              </a:ext>
            </a:extLst>
          </p:cNvPr>
          <p:cNvGrpSpPr/>
          <p:nvPr/>
        </p:nvGrpSpPr>
        <p:grpSpPr>
          <a:xfrm>
            <a:off x="6067974" y="1190887"/>
            <a:ext cx="2653473" cy="838274"/>
            <a:chOff x="1190065" y="1066098"/>
            <a:chExt cx="2653473" cy="838274"/>
          </a:xfrm>
        </p:grpSpPr>
        <p:pic>
          <p:nvPicPr>
            <p:cNvPr id="18" name="Imagen 17">
              <a:extLst>
                <a:ext uri="{FF2B5EF4-FFF2-40B4-BE49-F238E27FC236}">
                  <a16:creationId xmlns:a16="http://schemas.microsoft.com/office/drawing/2014/main" id="{63FEE0DE-8E7D-401D-9EB6-B42037C049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90065" y="1066098"/>
              <a:ext cx="634875" cy="601460"/>
            </a:xfrm>
            <a:prstGeom prst="rect">
              <a:avLst/>
            </a:prstGeom>
          </p:spPr>
        </p:pic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1CDF45A4-EDE4-4D35-8C53-AF4E40544FDD}"/>
                </a:ext>
              </a:extLst>
            </p:cNvPr>
            <p:cNvSpPr txBox="1"/>
            <p:nvPr/>
          </p:nvSpPr>
          <p:spPr>
            <a:xfrm>
              <a:off x="1470132" y="1258041"/>
              <a:ext cx="2373406" cy="64633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s-ES" sz="1100" dirty="0">
                  <a:latin typeface="Bahnschrift" panose="020B0502040204020203" pitchFamily="34" charset="0"/>
                </a:rPr>
                <a:t>Clientes SIN recompras</a:t>
              </a:r>
            </a:p>
            <a:p>
              <a:r>
                <a:rPr lang="es-ES" sz="1100" dirty="0">
                  <a:latin typeface="Bahnschrift" panose="020B0502040204020203" pitchFamily="34" charset="0"/>
                </a:rPr>
                <a:t>Clientes CON recompras</a:t>
              </a:r>
            </a:p>
            <a:p>
              <a:endParaRPr lang="es-ES" dirty="0"/>
            </a:p>
          </p:txBody>
        </p:sp>
      </p:grpSp>
      <p:sp>
        <p:nvSpPr>
          <p:cNvPr id="23" name="Rectángulo 22">
            <a:extLst>
              <a:ext uri="{FF2B5EF4-FFF2-40B4-BE49-F238E27FC236}">
                <a16:creationId xmlns:a16="http://schemas.microsoft.com/office/drawing/2014/main" id="{14C0B937-B1AD-4D83-9753-41A9EF15E8C8}"/>
              </a:ext>
            </a:extLst>
          </p:cNvPr>
          <p:cNvSpPr/>
          <p:nvPr/>
        </p:nvSpPr>
        <p:spPr>
          <a:xfrm>
            <a:off x="5135940" y="2112511"/>
            <a:ext cx="1312074" cy="382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 err="1"/>
              <a:t>Monetary</a:t>
            </a:r>
            <a:endParaRPr lang="es-ES" dirty="0"/>
          </a:p>
        </p:txBody>
      </p:sp>
      <p:grpSp>
        <p:nvGrpSpPr>
          <p:cNvPr id="37" name="Grupo 36">
            <a:extLst>
              <a:ext uri="{FF2B5EF4-FFF2-40B4-BE49-F238E27FC236}">
                <a16:creationId xmlns:a16="http://schemas.microsoft.com/office/drawing/2014/main" id="{015063C6-6EE1-4511-8271-54843FED1CD2}"/>
              </a:ext>
            </a:extLst>
          </p:cNvPr>
          <p:cNvGrpSpPr/>
          <p:nvPr/>
        </p:nvGrpSpPr>
        <p:grpSpPr>
          <a:xfrm>
            <a:off x="311700" y="2703366"/>
            <a:ext cx="1866272" cy="1993959"/>
            <a:chOff x="311700" y="2703366"/>
            <a:chExt cx="1866272" cy="1993959"/>
          </a:xfrm>
        </p:grpSpPr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E757D0C7-558C-4FE8-AF5E-83EA898EC2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/>
            <a:stretch/>
          </p:blipFill>
          <p:spPr>
            <a:xfrm>
              <a:off x="311700" y="2703366"/>
              <a:ext cx="1866272" cy="1659791"/>
            </a:xfrm>
            <a:prstGeom prst="rect">
              <a:avLst/>
            </a:prstGeom>
          </p:spPr>
        </p:pic>
        <p:pic>
          <p:nvPicPr>
            <p:cNvPr id="33" name="Imagen 32">
              <a:extLst>
                <a:ext uri="{FF2B5EF4-FFF2-40B4-BE49-F238E27FC236}">
                  <a16:creationId xmlns:a16="http://schemas.microsoft.com/office/drawing/2014/main" id="{A8341AA5-58A8-408C-849B-7B9CC49620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-1" r="80174"/>
            <a:stretch/>
          </p:blipFill>
          <p:spPr>
            <a:xfrm>
              <a:off x="570951" y="4316108"/>
              <a:ext cx="1602945" cy="381217"/>
            </a:xfrm>
            <a:prstGeom prst="rect">
              <a:avLst/>
            </a:prstGeom>
          </p:spPr>
        </p:pic>
      </p:grpSp>
      <p:grpSp>
        <p:nvGrpSpPr>
          <p:cNvPr id="40" name="Grupo 39">
            <a:extLst>
              <a:ext uri="{FF2B5EF4-FFF2-40B4-BE49-F238E27FC236}">
                <a16:creationId xmlns:a16="http://schemas.microsoft.com/office/drawing/2014/main" id="{1E6696C3-9E51-4DD1-9FF6-C0A5591DF514}"/>
              </a:ext>
            </a:extLst>
          </p:cNvPr>
          <p:cNvGrpSpPr/>
          <p:nvPr/>
        </p:nvGrpSpPr>
        <p:grpSpPr>
          <a:xfrm>
            <a:off x="6768829" y="2711470"/>
            <a:ext cx="1954949" cy="2069888"/>
            <a:chOff x="6768829" y="2711470"/>
            <a:chExt cx="1954949" cy="2069888"/>
          </a:xfrm>
        </p:grpSpPr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5947AFD0-F6CE-4DA1-BCFC-D55300476F20}"/>
                </a:ext>
              </a:extLst>
            </p:cNvPr>
            <p:cNvGrpSpPr/>
            <p:nvPr/>
          </p:nvGrpSpPr>
          <p:grpSpPr>
            <a:xfrm>
              <a:off x="6768829" y="2711470"/>
              <a:ext cx="1954949" cy="1748179"/>
              <a:chOff x="6768829" y="2711470"/>
              <a:chExt cx="1954949" cy="1748179"/>
            </a:xfrm>
          </p:grpSpPr>
          <p:pic>
            <p:nvPicPr>
              <p:cNvPr id="9" name="Imagen 8">
                <a:extLst>
                  <a:ext uri="{FF2B5EF4-FFF2-40B4-BE49-F238E27FC236}">
                    <a16:creationId xmlns:a16="http://schemas.microsoft.com/office/drawing/2014/main" id="{8C60DB80-24E0-4DB9-BEC1-51308108E2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26039" y="2720702"/>
                <a:ext cx="1697739" cy="1738947"/>
              </a:xfrm>
              <a:prstGeom prst="rect">
                <a:avLst/>
              </a:prstGeom>
            </p:spPr>
          </p:pic>
          <p:pic>
            <p:nvPicPr>
              <p:cNvPr id="30" name="Imagen 29">
                <a:extLst>
                  <a:ext uri="{FF2B5EF4-FFF2-40B4-BE49-F238E27FC236}">
                    <a16:creationId xmlns:a16="http://schemas.microsoft.com/office/drawing/2014/main" id="{B5719A9D-BE96-4CF0-B87C-82B2C89859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40312"/>
              <a:stretch/>
            </p:blipFill>
            <p:spPr>
              <a:xfrm>
                <a:off x="6768829" y="2711470"/>
                <a:ext cx="343683" cy="1710953"/>
              </a:xfrm>
              <a:prstGeom prst="rect">
                <a:avLst/>
              </a:prstGeom>
            </p:spPr>
          </p:pic>
        </p:grpSp>
        <p:pic>
          <p:nvPicPr>
            <p:cNvPr id="34" name="Imagen 33">
              <a:extLst>
                <a:ext uri="{FF2B5EF4-FFF2-40B4-BE49-F238E27FC236}">
                  <a16:creationId xmlns:a16="http://schemas.microsoft.com/office/drawing/2014/main" id="{BCF6110D-3B6E-47FA-90F2-6AAE2A98723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80072"/>
            <a:stretch/>
          </p:blipFill>
          <p:spPr>
            <a:xfrm>
              <a:off x="7023708" y="4379658"/>
              <a:ext cx="1697739" cy="401700"/>
            </a:xfrm>
            <a:prstGeom prst="rect">
              <a:avLst/>
            </a:prstGeom>
          </p:spPr>
        </p:pic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80544DCB-979F-4BDC-9742-A9A6B77D487B}"/>
              </a:ext>
            </a:extLst>
          </p:cNvPr>
          <p:cNvGrpSpPr/>
          <p:nvPr/>
        </p:nvGrpSpPr>
        <p:grpSpPr>
          <a:xfrm>
            <a:off x="4356775" y="2644098"/>
            <a:ext cx="2210679" cy="2140261"/>
            <a:chOff x="4356775" y="2644098"/>
            <a:chExt cx="2210679" cy="2140261"/>
          </a:xfrm>
        </p:grpSpPr>
        <p:grpSp>
          <p:nvGrpSpPr>
            <p:cNvPr id="28" name="Grupo 27">
              <a:extLst>
                <a:ext uri="{FF2B5EF4-FFF2-40B4-BE49-F238E27FC236}">
                  <a16:creationId xmlns:a16="http://schemas.microsoft.com/office/drawing/2014/main" id="{C49EC9AD-42C9-4FAB-AE7A-E807C4754925}"/>
                </a:ext>
              </a:extLst>
            </p:cNvPr>
            <p:cNvGrpSpPr/>
            <p:nvPr/>
          </p:nvGrpSpPr>
          <p:grpSpPr>
            <a:xfrm>
              <a:off x="4356775" y="2644098"/>
              <a:ext cx="2148941" cy="1770221"/>
              <a:chOff x="4336837" y="2652201"/>
              <a:chExt cx="2148941" cy="1770221"/>
            </a:xfrm>
          </p:grpSpPr>
          <p:pic>
            <p:nvPicPr>
              <p:cNvPr id="25" name="Imagen 24">
                <a:extLst>
                  <a:ext uri="{FF2B5EF4-FFF2-40B4-BE49-F238E27FC236}">
                    <a16:creationId xmlns:a16="http://schemas.microsoft.com/office/drawing/2014/main" id="{D71992CB-97AB-49B1-BD58-6AC0B77991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771792" y="2683475"/>
                <a:ext cx="1713986" cy="1738947"/>
              </a:xfrm>
              <a:prstGeom prst="rect">
                <a:avLst/>
              </a:prstGeom>
            </p:spPr>
          </p:pic>
          <p:pic>
            <p:nvPicPr>
              <p:cNvPr id="27" name="Imagen 26">
                <a:extLst>
                  <a:ext uri="{FF2B5EF4-FFF2-40B4-BE49-F238E27FC236}">
                    <a16:creationId xmlns:a16="http://schemas.microsoft.com/office/drawing/2014/main" id="{7E79E6B4-0870-4F10-A29C-51344E7742C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/>
              <a:srcRect l="23320"/>
              <a:stretch/>
            </p:blipFill>
            <p:spPr>
              <a:xfrm>
                <a:off x="4336837" y="2652201"/>
                <a:ext cx="536886" cy="1763083"/>
              </a:xfrm>
              <a:prstGeom prst="rect">
                <a:avLst/>
              </a:prstGeom>
            </p:spPr>
          </p:pic>
        </p:grpSp>
        <p:pic>
          <p:nvPicPr>
            <p:cNvPr id="35" name="Imagen 34">
              <a:extLst>
                <a:ext uri="{FF2B5EF4-FFF2-40B4-BE49-F238E27FC236}">
                  <a16:creationId xmlns:a16="http://schemas.microsoft.com/office/drawing/2014/main" id="{BD40D53B-1E0B-47E1-9925-B5D49742E9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9937" r="39745"/>
            <a:stretch/>
          </p:blipFill>
          <p:spPr>
            <a:xfrm>
              <a:off x="4778282" y="4369134"/>
              <a:ext cx="1789172" cy="415225"/>
            </a:xfrm>
            <a:prstGeom prst="rect">
              <a:avLst/>
            </a:prstGeom>
          </p:spPr>
        </p:pic>
      </p:grpSp>
      <p:grpSp>
        <p:nvGrpSpPr>
          <p:cNvPr id="38" name="Grupo 37">
            <a:extLst>
              <a:ext uri="{FF2B5EF4-FFF2-40B4-BE49-F238E27FC236}">
                <a16:creationId xmlns:a16="http://schemas.microsoft.com/office/drawing/2014/main" id="{F2217022-042F-4979-99FF-3D68467FBD98}"/>
              </a:ext>
            </a:extLst>
          </p:cNvPr>
          <p:cNvGrpSpPr/>
          <p:nvPr/>
        </p:nvGrpSpPr>
        <p:grpSpPr>
          <a:xfrm>
            <a:off x="2353235" y="2644098"/>
            <a:ext cx="1926048" cy="2092660"/>
            <a:chOff x="2353235" y="2644098"/>
            <a:chExt cx="1926048" cy="2092660"/>
          </a:xfrm>
        </p:grpSpPr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EF94F7D7-32DE-4F83-9064-341F1FF0B2FF}"/>
                </a:ext>
              </a:extLst>
            </p:cNvPr>
            <p:cNvGrpSpPr/>
            <p:nvPr/>
          </p:nvGrpSpPr>
          <p:grpSpPr>
            <a:xfrm>
              <a:off x="2353235" y="2644098"/>
              <a:ext cx="1926048" cy="1778325"/>
              <a:chOff x="2420471" y="2650339"/>
              <a:chExt cx="1926048" cy="1778325"/>
            </a:xfrm>
          </p:grpSpPr>
          <p:pic>
            <p:nvPicPr>
              <p:cNvPr id="12" name="Imagen 11">
                <a:extLst>
                  <a:ext uri="{FF2B5EF4-FFF2-40B4-BE49-F238E27FC236}">
                    <a16:creationId xmlns:a16="http://schemas.microsoft.com/office/drawing/2014/main" id="{A9D822AF-3FA3-475D-A7DB-C7FE1A97F5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48585" y="2689717"/>
                <a:ext cx="1697934" cy="1738947"/>
              </a:xfrm>
              <a:prstGeom prst="rect">
                <a:avLst/>
              </a:prstGeom>
            </p:spPr>
          </p:pic>
          <p:pic>
            <p:nvPicPr>
              <p:cNvPr id="21" name="Imagen 20">
                <a:extLst>
                  <a:ext uri="{FF2B5EF4-FFF2-40B4-BE49-F238E27FC236}">
                    <a16:creationId xmlns:a16="http://schemas.microsoft.com/office/drawing/2014/main" id="{7908D0EB-63C7-4ECF-9F50-27E587B9CB3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/>
              <a:srcRect l="33328"/>
              <a:stretch/>
            </p:blipFill>
            <p:spPr>
              <a:xfrm>
                <a:off x="2420471" y="2650339"/>
                <a:ext cx="331255" cy="1738947"/>
              </a:xfrm>
              <a:prstGeom prst="rect">
                <a:avLst/>
              </a:prstGeom>
            </p:spPr>
          </p:pic>
        </p:grpSp>
        <p:pic>
          <p:nvPicPr>
            <p:cNvPr id="36" name="Imagen 35">
              <a:extLst>
                <a:ext uri="{FF2B5EF4-FFF2-40B4-BE49-F238E27FC236}">
                  <a16:creationId xmlns:a16="http://schemas.microsoft.com/office/drawing/2014/main" id="{EECB98D8-8A76-46C4-9899-3C344715B1F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0033" r="59969"/>
            <a:stretch/>
          </p:blipFill>
          <p:spPr>
            <a:xfrm>
              <a:off x="2601707" y="4345985"/>
              <a:ext cx="1657404" cy="390773"/>
            </a:xfrm>
            <a:prstGeom prst="rect">
              <a:avLst/>
            </a:prstGeom>
          </p:spPr>
        </p:pic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C91D2978-8AA7-42CF-A876-EBA4A8B6FB93}"/>
              </a:ext>
            </a:extLst>
          </p:cNvPr>
          <p:cNvGrpSpPr/>
          <p:nvPr/>
        </p:nvGrpSpPr>
        <p:grpSpPr>
          <a:xfrm>
            <a:off x="345918" y="1093455"/>
            <a:ext cx="5446059" cy="704721"/>
            <a:chOff x="3546697" y="1039314"/>
            <a:chExt cx="5446059" cy="704721"/>
          </a:xfrm>
        </p:grpSpPr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EBA7E524-F1E8-43EE-A575-F0302F25379C}"/>
                </a:ext>
              </a:extLst>
            </p:cNvPr>
            <p:cNvSpPr txBox="1"/>
            <p:nvPr/>
          </p:nvSpPr>
          <p:spPr>
            <a:xfrm>
              <a:off x="3546697" y="1220815"/>
              <a:ext cx="544605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Compras pasadas (Primer 70%) | Compras Futuras (Último 30%)</a:t>
              </a:r>
            </a:p>
            <a:p>
              <a:r>
                <a:rPr lang="es-ES" dirty="0"/>
                <a:t>		      </a:t>
              </a:r>
              <a:r>
                <a:rPr lang="es-ES" dirty="0" err="1"/>
                <a:t>Cut</a:t>
              </a:r>
              <a:r>
                <a:rPr lang="es-ES" dirty="0"/>
                <a:t>-off Date</a:t>
              </a:r>
            </a:p>
          </p:txBody>
        </p:sp>
        <p:pic>
          <p:nvPicPr>
            <p:cNvPr id="5122" name="Picture 2" descr="Curved Arrow Right Red Icon SVG Vector &amp; PNG Free Download | UXWing">
              <a:extLst>
                <a:ext uri="{FF2B5EF4-FFF2-40B4-BE49-F238E27FC236}">
                  <a16:creationId xmlns:a16="http://schemas.microsoft.com/office/drawing/2014/main" id="{00EF7308-500D-4FAA-ADE1-89A028F010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8733034" flipV="1">
              <a:off x="6059561" y="1039314"/>
              <a:ext cx="295868" cy="313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22894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Topics</a:t>
            </a:r>
            <a:endParaRPr lang="es-ES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D2E2FFC-1A42-4243-823E-823E5FAC48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216103"/>
            <a:ext cx="6273053" cy="209359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1E607CA7-DDAD-4030-9B94-6A76A9DD02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5985" y="1269733"/>
            <a:ext cx="2166315" cy="171723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6B501D4-34DD-4A0C-90E6-700C2359DF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3947" y="3308734"/>
            <a:ext cx="3836106" cy="1452726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A7C79449-6709-4204-A1E4-E42B4511D791}"/>
              </a:ext>
            </a:extLst>
          </p:cNvPr>
          <p:cNvSpPr/>
          <p:nvPr/>
        </p:nvSpPr>
        <p:spPr>
          <a:xfrm>
            <a:off x="2653947" y="4538382"/>
            <a:ext cx="3836106" cy="223078"/>
          </a:xfrm>
          <a:prstGeom prst="rect">
            <a:avLst/>
          </a:prstGeom>
          <a:solidFill>
            <a:srgbClr val="92D05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34816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Variables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AAF6611-9B22-4459-AE47-427CD0D801D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225"/>
          <a:stretch/>
        </p:blipFill>
        <p:spPr>
          <a:xfrm>
            <a:off x="169299" y="1808735"/>
            <a:ext cx="5201593" cy="276239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48A6025-E0FA-4E17-89D9-A985C176DDB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062" t="4657" b="173"/>
          <a:stretch/>
        </p:blipFill>
        <p:spPr>
          <a:xfrm>
            <a:off x="5505363" y="1808735"/>
            <a:ext cx="3228502" cy="3041704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F952D770-1D3E-4AF3-959D-1652C9E1AB6B}"/>
              </a:ext>
            </a:extLst>
          </p:cNvPr>
          <p:cNvSpPr/>
          <p:nvPr/>
        </p:nvSpPr>
        <p:spPr>
          <a:xfrm>
            <a:off x="847167" y="1262980"/>
            <a:ext cx="4114800" cy="3988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>
                <a:latin typeface="Bahnschrift" panose="020B0502040204020203" pitchFamily="34" charset="0"/>
              </a:rPr>
              <a:t>Importancia (Normalizada) por Modelo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01F9093-F881-4CA1-865F-CE64A82BDD79}"/>
              </a:ext>
            </a:extLst>
          </p:cNvPr>
          <p:cNvSpPr/>
          <p:nvPr/>
        </p:nvSpPr>
        <p:spPr>
          <a:xfrm>
            <a:off x="5465022" y="1262980"/>
            <a:ext cx="3309184" cy="3988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>
                <a:latin typeface="Bahnschrift" panose="020B0502040204020203" pitchFamily="34" charset="0"/>
              </a:rPr>
              <a:t>Importancia Media (Todos los Modelos)</a:t>
            </a:r>
          </a:p>
        </p:txBody>
      </p:sp>
    </p:spTree>
    <p:extLst>
      <p:ext uri="{BB962C8B-B14F-4D97-AF65-F5344CB8AC3E}">
        <p14:creationId xmlns:p14="http://schemas.microsoft.com/office/powerpoint/2010/main" val="2099387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Acciones de Negocio y Siguientes Pasos 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CA55EA8C-9E11-4949-A62A-FF59448A5049}"/>
              </a:ext>
            </a:extLst>
          </p:cNvPr>
          <p:cNvSpPr/>
          <p:nvPr/>
        </p:nvSpPr>
        <p:spPr>
          <a:xfrm>
            <a:off x="311700" y="1433870"/>
            <a:ext cx="4085488" cy="3988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>
                <a:latin typeface="Bahnschrift" panose="020B0502040204020203" pitchFamily="34" charset="0"/>
              </a:rPr>
              <a:t>Acciones de Negocio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8DFB412-BC90-437B-9079-6E8F0D4DD933}"/>
              </a:ext>
            </a:extLst>
          </p:cNvPr>
          <p:cNvSpPr/>
          <p:nvPr/>
        </p:nvSpPr>
        <p:spPr>
          <a:xfrm>
            <a:off x="4746811" y="1433869"/>
            <a:ext cx="4085488" cy="3988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>
                <a:latin typeface="Bahnschrift" panose="020B0502040204020203" pitchFamily="34" charset="0"/>
              </a:rPr>
              <a:t>Siguientes Pasos</a:t>
            </a:r>
          </a:p>
        </p:txBody>
      </p:sp>
      <p:sp>
        <p:nvSpPr>
          <p:cNvPr id="24" name="Google Shape;97;p17">
            <a:extLst>
              <a:ext uri="{FF2B5EF4-FFF2-40B4-BE49-F238E27FC236}">
                <a16:creationId xmlns:a16="http://schemas.microsoft.com/office/drawing/2014/main" id="{56286245-75E3-438C-A360-66B50DE366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2018519"/>
            <a:ext cx="4085488" cy="23475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latin typeface="Bahnschrift" panose="020B0502040204020203" pitchFamily="34" charset="0"/>
              </a:rPr>
              <a:t>Clientes con </a:t>
            </a:r>
            <a:r>
              <a:rPr lang="es-ES" sz="1200" b="1" dirty="0">
                <a:latin typeface="Bahnschrift" panose="020B0502040204020203" pitchFamily="34" charset="0"/>
              </a:rPr>
              <a:t>alta</a:t>
            </a:r>
            <a:r>
              <a:rPr lang="es-ES" sz="1200" dirty="0">
                <a:latin typeface="Bahnschrift" panose="020B0502040204020203" pitchFamily="34" charset="0"/>
              </a:rPr>
              <a:t> probabilidad de recompra:</a:t>
            </a:r>
          </a:p>
          <a:p>
            <a:pPr marL="171450" indent="-171450"/>
            <a:r>
              <a:rPr lang="es-ES" sz="1200" dirty="0">
                <a:latin typeface="Bahnschrift" panose="020B0502040204020203" pitchFamily="34" charset="0"/>
              </a:rPr>
              <a:t>Programas de fidelización</a:t>
            </a:r>
          </a:p>
          <a:p>
            <a:pPr marL="171450" indent="-171450"/>
            <a:r>
              <a:rPr lang="es-ES" sz="1200" dirty="0" err="1">
                <a:latin typeface="Bahnschrift" panose="020B0502040204020203" pitchFamily="34" charset="0"/>
              </a:rPr>
              <a:t>Corss-selling</a:t>
            </a:r>
            <a:r>
              <a:rPr lang="es-ES" sz="1200" dirty="0">
                <a:latin typeface="Bahnschrift" panose="020B0502040204020203" pitchFamily="34" charset="0"/>
              </a:rPr>
              <a:t> y </a:t>
            </a:r>
            <a:r>
              <a:rPr lang="es-ES" sz="1200" dirty="0" err="1">
                <a:latin typeface="Bahnschrift" panose="020B0502040204020203" pitchFamily="34" charset="0"/>
              </a:rPr>
              <a:t>upselling</a:t>
            </a:r>
            <a:endParaRPr lang="es-ES" sz="1200" dirty="0">
              <a:latin typeface="Bahnschrift" panose="020B0502040204020203" pitchFamily="34" charset="0"/>
            </a:endParaRPr>
          </a:p>
          <a:p>
            <a:pPr marL="171450" indent="-171450"/>
            <a:r>
              <a:rPr lang="es-ES" sz="1200" dirty="0">
                <a:latin typeface="Bahnschrift" panose="020B0502040204020203" pitchFamily="34" charset="0"/>
              </a:rPr>
              <a:t>Recomendaciones personalizadas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sz="1200" dirty="0">
              <a:latin typeface="Bahnschrift" panose="020B0502040204020203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latin typeface="Bahnschrift" panose="020B0502040204020203" pitchFamily="34" charset="0"/>
              </a:rPr>
              <a:t>Clientes con </a:t>
            </a:r>
            <a:r>
              <a:rPr lang="es-ES" sz="1200" b="1" dirty="0">
                <a:latin typeface="Bahnschrift" panose="020B0502040204020203" pitchFamily="34" charset="0"/>
              </a:rPr>
              <a:t>baja</a:t>
            </a:r>
            <a:r>
              <a:rPr lang="es-ES" sz="1200" dirty="0">
                <a:latin typeface="Bahnschrift" panose="020B0502040204020203" pitchFamily="34" charset="0"/>
              </a:rPr>
              <a:t> probabilidad de recompra:</a:t>
            </a:r>
          </a:p>
          <a:p>
            <a:pPr marL="171450" indent="-171450"/>
            <a:r>
              <a:rPr lang="es-ES" sz="1200" dirty="0">
                <a:latin typeface="Bahnschrift" panose="020B0502040204020203" pitchFamily="34" charset="0"/>
              </a:rPr>
              <a:t>Campañas de reactivación</a:t>
            </a:r>
          </a:p>
          <a:p>
            <a:pPr marL="171450" indent="-171450"/>
            <a:r>
              <a:rPr lang="es-ES" sz="1200" dirty="0">
                <a:latin typeface="Bahnschrift" panose="020B0502040204020203" pitchFamily="34" charset="0"/>
              </a:rPr>
              <a:t>Descuentos o incentivos</a:t>
            </a:r>
          </a:p>
          <a:p>
            <a:pPr marL="171450" indent="-171450"/>
            <a:r>
              <a:rPr lang="es-ES" sz="1200" dirty="0">
                <a:latin typeface="Bahnschrift" panose="020B0502040204020203" pitchFamily="34" charset="0"/>
              </a:rPr>
              <a:t>Ofertas limitadas y Segmentación</a:t>
            </a:r>
            <a:endParaRPr sz="1200" dirty="0">
              <a:latin typeface="Bahnschrift" panose="020B0502040204020203" pitchFamily="34" charset="0"/>
            </a:endParaRPr>
          </a:p>
        </p:txBody>
      </p:sp>
      <p:sp>
        <p:nvSpPr>
          <p:cNvPr id="25" name="Google Shape;97;p17">
            <a:extLst>
              <a:ext uri="{FF2B5EF4-FFF2-40B4-BE49-F238E27FC236}">
                <a16:creationId xmlns:a16="http://schemas.microsoft.com/office/drawing/2014/main" id="{72CCEF42-D79F-40BB-87F9-EF14B1261441}"/>
              </a:ext>
            </a:extLst>
          </p:cNvPr>
          <p:cNvSpPr txBox="1">
            <a:spLocks/>
          </p:cNvSpPr>
          <p:nvPr/>
        </p:nvSpPr>
        <p:spPr>
          <a:xfrm>
            <a:off x="4746811" y="2018519"/>
            <a:ext cx="4085488" cy="2347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 indent="-228600">
              <a:buFont typeface="Arial"/>
              <a:buAutoNum type="arabicPeriod"/>
            </a:pPr>
            <a:r>
              <a:rPr lang="es-ES" sz="1200" dirty="0">
                <a:latin typeface="Bahnschrift" panose="020B0502040204020203" pitchFamily="34" charset="0"/>
              </a:rPr>
              <a:t>Mejorar modelo actual de </a:t>
            </a:r>
            <a:r>
              <a:rPr lang="es-ES" sz="1200" dirty="0" err="1">
                <a:latin typeface="Bahnschrift" panose="020B0502040204020203" pitchFamily="34" charset="0"/>
              </a:rPr>
              <a:t>XGBoost</a:t>
            </a:r>
            <a:endParaRPr lang="es-ES" sz="1200" dirty="0">
              <a:latin typeface="Bahnschrift" panose="020B0502040204020203" pitchFamily="34" charset="0"/>
            </a:endParaRPr>
          </a:p>
          <a:p>
            <a:pPr marL="228600" indent="-228600">
              <a:buFont typeface="Arial"/>
              <a:buAutoNum type="arabicPeriod"/>
            </a:pPr>
            <a:endParaRPr lang="es-ES" sz="1200" dirty="0">
              <a:latin typeface="Bahnschrift" panose="020B0502040204020203" pitchFamily="34" charset="0"/>
            </a:endParaRPr>
          </a:p>
          <a:p>
            <a:pPr marL="228600" indent="-228600">
              <a:buFont typeface="Arial"/>
              <a:buAutoNum type="arabicPeriod"/>
            </a:pPr>
            <a:r>
              <a:rPr lang="es-ES" sz="1200" dirty="0">
                <a:latin typeface="Bahnschrift" panose="020B0502040204020203" pitchFamily="34" charset="0"/>
              </a:rPr>
              <a:t>Exploración con modelos más sofisticados</a:t>
            </a:r>
          </a:p>
          <a:p>
            <a:pPr marL="228600" indent="-228600">
              <a:buFont typeface="Arial"/>
              <a:buAutoNum type="arabicPeriod"/>
            </a:pPr>
            <a:endParaRPr lang="es-ES" sz="1200" dirty="0">
              <a:latin typeface="Bahnschrift" panose="020B0502040204020203" pitchFamily="34" charset="0"/>
            </a:endParaRPr>
          </a:p>
          <a:p>
            <a:pPr marL="228600" indent="-228600">
              <a:buFont typeface="Arial"/>
              <a:buAutoNum type="arabicPeriod"/>
            </a:pPr>
            <a:r>
              <a:rPr lang="es-ES" sz="1200" dirty="0">
                <a:latin typeface="Bahnschrift" panose="020B0502040204020203" pitchFamily="34" charset="0"/>
              </a:rPr>
              <a:t>Segmentación No supervisada de clientes</a:t>
            </a:r>
          </a:p>
          <a:p>
            <a:pPr marL="228600" indent="-228600">
              <a:buFont typeface="Arial"/>
              <a:buAutoNum type="arabicPeriod"/>
            </a:pPr>
            <a:endParaRPr lang="es-ES" sz="1200" dirty="0">
              <a:latin typeface="Bahnschrift" panose="020B0502040204020203" pitchFamily="34" charset="0"/>
            </a:endParaRPr>
          </a:p>
          <a:p>
            <a:pPr marL="228600" indent="-228600">
              <a:buFont typeface="Arial"/>
              <a:buAutoNum type="arabicPeriod"/>
            </a:pPr>
            <a:r>
              <a:rPr lang="es-ES" sz="1200" dirty="0">
                <a:latin typeface="Bahnschrift" panose="020B0502040204020203" pitchFamily="34" charset="0"/>
              </a:rPr>
              <a:t>Sistemas de Recomendación</a:t>
            </a:r>
          </a:p>
          <a:p>
            <a:pPr marL="228600" indent="-228600">
              <a:buFont typeface="Arial"/>
              <a:buAutoNum type="arabicPeriod"/>
            </a:pPr>
            <a:endParaRPr lang="es-ES" sz="1200" dirty="0">
              <a:latin typeface="Bahnschrift" panose="020B0502040204020203" pitchFamily="34" charset="0"/>
            </a:endParaRPr>
          </a:p>
          <a:p>
            <a:pPr marL="228600" indent="-228600">
              <a:buFont typeface="Arial"/>
              <a:buAutoNum type="arabicPeriod"/>
            </a:pPr>
            <a:r>
              <a:rPr lang="es-ES" sz="1200" dirty="0" err="1">
                <a:latin typeface="Bahnschrift" panose="020B0502040204020203" pitchFamily="34" charset="0"/>
              </a:rPr>
              <a:t>Deploy</a:t>
            </a:r>
            <a:r>
              <a:rPr lang="es-ES" sz="1200" dirty="0">
                <a:latin typeface="Bahnschrift" panose="020B0502040204020203" pitchFamily="34" charset="0"/>
              </a:rPr>
              <a:t> y Monitorización + Modelo </a:t>
            </a:r>
            <a:r>
              <a:rPr lang="es-ES" sz="1200" dirty="0" err="1">
                <a:latin typeface="Bahnschrift" panose="020B0502040204020203" pitchFamily="34" charset="0"/>
              </a:rPr>
              <a:t>MarketingMix</a:t>
            </a:r>
            <a:endParaRPr lang="es-ES" sz="12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179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TM03457515[[fn=Vista]]</Template>
  <TotalTime>744</TotalTime>
  <Words>172</Words>
  <Application>Microsoft Office PowerPoint</Application>
  <PresentationFormat>Presentación en pantalla (16:9)</PresentationFormat>
  <Paragraphs>47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0" baseType="lpstr">
      <vt:lpstr>Arial</vt:lpstr>
      <vt:lpstr>Bahnschrift</vt:lpstr>
      <vt:lpstr>Simple Light</vt:lpstr>
      <vt:lpstr>Modelo de Análisis de Reviews</vt:lpstr>
      <vt:lpstr>Descripción del Problema</vt:lpstr>
      <vt:lpstr>Mercado</vt:lpstr>
      <vt:lpstr>Nuestra Empresa vs Mercado</vt:lpstr>
      <vt:lpstr>Topics</vt:lpstr>
      <vt:lpstr>Variables</vt:lpstr>
      <vt:lpstr>Acciones de Negocio y Siguientes Pasos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Fidelización y Recompra</dc:title>
  <cp:lastModifiedBy>Henry Fernandes</cp:lastModifiedBy>
  <cp:revision>29</cp:revision>
  <dcterms:modified xsi:type="dcterms:W3CDTF">2026-04-15T17:05:29Z</dcterms:modified>
</cp:coreProperties>
</file>